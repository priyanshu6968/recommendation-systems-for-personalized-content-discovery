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0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E50914"/>
                </a:solidFill>
                <a:latin typeface="Calibri"/>
              </a:rPr>
              <a:t>PROJECT ANALYSIS &amp; ENGINEERING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ECEFF4"/>
                </a:solidFill>
                <a:latin typeface="Calibri"/>
              </a:rPr>
              <a:t>Recommendation Systems for</a:t>
            </a:r>
          </a:p>
          <a:p>
            <a:r>
              <a:rPr sz="4000" b="1" i="0">
                <a:solidFill>
                  <a:srgbClr val="ECEFF4"/>
                </a:solidFill>
                <a:latin typeface="Calibri"/>
              </a:rPr>
              <a:t>Personalized Content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4F9DF7"/>
                </a:solidFill>
                <a:latin typeface="Calibri"/>
              </a:rPr>
              <a:t>Project &amp; Implementation:  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Priyanshu Nigam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4F9DF7"/>
                </a:solidFill>
                <a:latin typeface="Calibri"/>
              </a:rPr>
              <a:t>Dataset:  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Netflix Prize  ·  ~100M ratings  ·  ~480K users  ·  ~17.7K movies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4F9DF7"/>
                </a:solidFill>
                <a:latin typeface="Calibri"/>
              </a:rPr>
              <a:t>Scope:  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Data pipeline → model ladder → hybrid ensemble → explainable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OVERVIEW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End-to-end system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raw text-dump ratings → interactive, explainable web dashboard.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Deliberate model ladder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 rather than one complex model — each tier is the baseline for the next: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Global baselines → neighborhood CF → matrix factorization → neural CF → hybrid ensemble.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Dual-axis evaluation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rating-error (RMSE) AND top-K ranking relevance (MAP, NDCG, Coverage…).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Headline model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weighted ensemble (70% Funk SVD + 30% item-CF) reaching RMSE ≈ 0.80.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Explainability + demo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post-hoc 'because you liked X' rationale, served via a Streamlit app.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Engineering verdict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clean, modular, reproducible structure; main gaps are evaluation rigor &amp; docs.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DATA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Dataset &amp; Exploratory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Source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Netflix Prize — 4 combined text files (~2 GB), custom 'movieId:' header format.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Extreme sparsity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~480K users × ~17.7K movies → &gt;99% of the user–item matrix is empty.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Rules out dense methods; motivates latent-factor &amp; neighborhood models.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The long tail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a few blockbusters / power-users dominate; most items &amp; users are cold.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Why Coverage is later measured, and why expensive models use a dense slice.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EDA artifacts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sparsity/density metrics, log-scale popularity curve, user-activity histogram.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PIPELINE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Data Engineering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Streaming parser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line-by-line text → columnar Parquet at constant memory.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Ratings stored as UInt8; dates parsed to Date dtype.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Polars + Parquet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 chosen for scale: 2 GB text compresses to ~525 MB columnar.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Lazy / streaming engine (scan_parquet, sink_parquet) avoids materializing 100M rows in RAM.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Why it matters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this is the difference between 'runs on a laptop' and 'OOM'.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Config-driven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paths &amp; params centralized in default_config.yaml — reproducible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FEATURES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Feature Engineering — Intentionally 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Three processed artifacts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interactions.parquet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 — cleaned (user, item, rating, date) event log.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user_features.parquet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 — per-user rating count &amp; mean.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movie_features.parquet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 — per-movie count &amp; mean + title/year metadata.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Justification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CF/MF learn latent factors directly from the matrix — not hand-crafted features.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Means feed the bias baseline &amp; KNNWithMeans; counts drive popularity-based slicing.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Aligned with Guideline #3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 — favor simplicity backed by strong reasoning over needless complexity.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MODELING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The Model Ladder — Five Justified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1 · Global baselines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global / user / movie mean + regularized bias (μ + bᵤ + bᵢ, damped).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2 · Neighborhood CF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KNNWithMeans, Pearson-baseline similarity, item- &amp; user-based.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Bias-removed similarity + min_support=5 suppress spurious neighbors; item-CF is explainable.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3 · Matrix factorization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Funk SVD (explicit RMSE) + Implicit ALS (ranking objective).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4 · Neural CF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PyTorch MLP over user/item embeddings — non-linear interaction probe.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Honest note: under-tuned (5 epochs, no output scaling) — a proof-of-concept, not selected.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5 · Hybrid ensemble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the production model — see next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KEY DECISION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Why a Hybrid Ensemble (70% SVD + 30% Item-CF)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Uncorrelated errors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SVD captures global latent structure; item-CF captures local neighborhoods.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Blending uncorrelated predictors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 is the most reliable way to reduce variance.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This is the family of approach that won the original Netflix Prize.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70 / 30 weighting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weights the stronger-RMSE model (SVD) higher…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600" b="0" i="0">
                <a:solidFill>
                  <a:srgbClr val="9AA7B8"/>
                </a:solidFill>
                <a:latin typeface="Calibri"/>
              </a:rPr>
              <a:t>…while retaining item-CF's complementary signal AND its explainability hook.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Performance vs. simplicity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: a strong, interpretable blend — not an over-engineered stack (Guideline #3).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QUALITY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Recommendation Strategy &amp;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Top-N generation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score all unseen candidates, sort by predicted rating, drop already-watched.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Explanation engine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 (post-hoc, item-based, faithful to the model):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"We recommend 'X' because you previously enjoyed 'Y' (Similarity 0.89)."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Graceful fallbacks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unknown item → popular; new user → general popularity; weak sim → community trends.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Why item-CF for explanations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latent SVD factors aren't human-readable; 'similar to what you liked' is.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Streamlit dashboard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pick a user → see history → top-N recs with an expandable 'Why this movie?'.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Guideline #1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the deliverable is useful recommendations — not just a low error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EVALUATION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Evaluation Methodology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Error + ranking together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 — the project's most important evaluation decision: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RMSE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 — rating-prediction accuracy, comparable to Netflix Prize literature.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MAP@10 / NDCG@10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 — reward putting relevant items early, position-discounted.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Precision@10 / Recall@10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 — 'is the shortlist good?' vs. 'did we miss good items?'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Hit Rate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 — user-perceived 'did it work at all'.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Coverage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 — guards against blockbuster-only collapse (the long tail).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Implementation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vectorized Polars window functions; relevance defined as rating ≥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RESULTS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Comprehensive Scorecard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3504" y="146304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621792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ECEFF4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9728" marT="36576" marB="36576" anchor="ctr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ECEFF4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109728" marT="36576" marB="36576" anchor="ctr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ECEFF4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marL="109728" marT="36576" marB="36576" anchor="ctr">
                    <a:solidFill>
                      <a:srgbClr val="E5091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ECEFF4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0.8049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Strong — Netflix-Prize-competitive error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ECEFF4"/>
                          </a:solidFill>
                          <a:latin typeface="Calibri"/>
                        </a:rPr>
                        <a:t>MAP@10</a:t>
                      </a:r>
                    </a:p>
                  </a:txBody>
                  <a:tcPr marL="109728" marT="36576" marB="36576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0.8569</a:t>
                      </a:r>
                    </a:p>
                  </a:txBody>
                  <a:tcPr marL="109728" marT="36576" marB="36576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Relevant items ranked early</a:t>
                      </a:r>
                    </a:p>
                  </a:txBody>
                  <a:tcPr marL="109728" marT="36576" marB="36576" anchor="ctr">
                    <a:solidFill>
                      <a:srgbClr val="2C3E5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ECEFF4"/>
                          </a:solidFill>
                          <a:latin typeface="Calibri"/>
                        </a:rPr>
                        <a:t>Precision@10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0.8849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High-quality top-10 shortlist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ECEFF4"/>
                          </a:solidFill>
                          <a:latin typeface="Calibri"/>
                        </a:rPr>
                        <a:t>Recall@10</a:t>
                      </a:r>
                    </a:p>
                  </a:txBody>
                  <a:tcPr marL="109728" marT="36576" marB="36576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0.2272</a:t>
                      </a:r>
                    </a:p>
                  </a:txBody>
                  <a:tcPr marL="109728" marT="36576" marB="36576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Capped by 10-item cutoff (expected)</a:t>
                      </a:r>
                    </a:p>
                  </a:txBody>
                  <a:tcPr marL="109728" marT="36576" marB="36576" anchor="ctr">
                    <a:solidFill>
                      <a:srgbClr val="2C3E5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ECEFF4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0.9014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Best single ranking-quality summary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ECEFF4"/>
                          </a:solidFill>
                          <a:latin typeface="Calibri"/>
                        </a:rPr>
                        <a:t>Hit Rate</a:t>
                      </a:r>
                    </a:p>
                  </a:txBody>
                  <a:tcPr marL="109728" marT="36576" marB="36576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0.9980</a:t>
                      </a:r>
                    </a:p>
                  </a:txBody>
                  <a:tcPr marL="109728" marT="36576" marB="36576"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Nearly all users get a relevant hit</a:t>
                      </a:r>
                    </a:p>
                  </a:txBody>
                  <a:tcPr marL="109728" marT="36576" marB="36576" anchor="ctr">
                    <a:solidFill>
                      <a:srgbClr val="2C3E5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ECEFF4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0.9460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CEFF4"/>
                          </a:solidFill>
                          <a:latin typeface="Calibri"/>
                        </a:rPr>
                        <a:t>Catalog spread — no blockbuster collapse</a:t>
                      </a:r>
                    </a:p>
                  </a:txBody>
                  <a:tcPr marL="109728" marT="36576" marB="36576" anchor="ctr">
                    <a:solidFill>
                      <a:srgbClr val="1B26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Note: </a:t>
            </a:r>
            <a:r>
              <a:rPr sz="1200" b="0" i="1">
                <a:solidFill>
                  <a:srgbClr val="9AA7B8"/>
                </a:solidFill>
                <a:latin typeface="Calibri"/>
              </a:rPr>
              <a:t>ranking metrics computed on a dense evaluation slice — read as relative model comparisons (see caveats).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ENGINEERING CRITIQUE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Critical Assessment — Honest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Ranking scored over observed ratings only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, not the full catalog → inflates Precision/NDCG/Hit Rate.</a:t>
            </a:r>
          </a:p>
          <a:p>
            <a:pPr lvl="1"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9AA7B8"/>
                </a:solidFill>
                <a:latin typeface="Calibri"/>
              </a:rPr>
              <a:t>– </a:t>
            </a:r>
            <a:r>
              <a:rPr sz="1500" b="0" i="0">
                <a:solidFill>
                  <a:srgbClr val="9AA7B8"/>
                </a:solidFill>
                <a:latin typeface="Calibri"/>
              </a:rPr>
              <a:t>Production top-N must rank all unseen items; use negative sampling for trustworthy figures.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Scorecard labeling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headline numbers come from Funk SVD; README attributes them to the ensemble.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Random (not temporal) split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Netflix has real dates — a time-based split avoids look-ahead leakage.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Dense-slice eval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 doesn't characterize cold / tail performance — exactly where recommenders struggle.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Reproducibility gaps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README references a non-existent run_parser.py &amp; requirements.txt; no tests; W&amp;B unused.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STRENGTHS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What the Project Does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Clear, justified model ladder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 — every tier earns its place; the ensemble choice is well-reasoned.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Dual-axis evaluation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 — error AND ranking (incl. Coverage); takes recommendation quality seriously.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Faithful explainability + working demo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 — ships a product, not just a notebook.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Scalable data engineering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 — Polars + Parquet, lazy/streaming, fit for 100M rows on commodity hardware.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6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CEFF4"/>
                </a:solidFill>
                <a:latin typeface="Calibri"/>
              </a:rPr>
              <a:t>Clean repository structure</a:t>
            </a:r>
            <a:r>
              <a:rPr sz="1600" b="0" i="0">
                <a:solidFill>
                  <a:srgbClr val="ECEFF4"/>
                </a:solidFill>
                <a:latin typeface="Calibri"/>
              </a:rPr>
              <a:t> — src/ package, one script per phase, central config — easy to extend.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E50914"/>
                </a:solidFill>
                <a:latin typeface="Calibri"/>
              </a:rPr>
              <a:t>ROADMAP</a:t>
            </a:r>
          </a:p>
          <a:p>
            <a:r>
              <a:rPr sz="2800" b="1" i="0">
                <a:solidFill>
                  <a:srgbClr val="ECEFF4"/>
                </a:solidFill>
                <a:latin typeface="Calibri"/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Fix the ranking protocol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rank against all unseen / sampled-negative items for production-grade metrics.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Adopt a temporal split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 and report cold-start / tail performance explicitly.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Reconcile README ↔ scripts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; add requirements / document 'pip install -e .'; label each scorecard number.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Persist results &amp; wire up W&amp;B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 — versioned scorecard, logged runs.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Add unit tests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 for the metric functions (RMSE, MAP@K, NDCG) with hand-checked inputs.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Tune NCF fairly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 (more epochs, scaled output, early stopping) before a linear-vs-neural verdict.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500" b="1" i="0">
                <a:solidFill>
                  <a:srgbClr val="E50914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CEFF4"/>
                </a:solidFill>
                <a:latin typeface="Calibri"/>
              </a:rPr>
              <a:t>Feature-augmented hybrid</a:t>
            </a:r>
            <a:r>
              <a:rPr sz="1500" b="0" i="0">
                <a:solidFill>
                  <a:srgbClr val="ECEFF4"/>
                </a:solidFill>
                <a:latin typeface="Calibri"/>
              </a:rPr>
              <a:t>: fold in temporal recency &amp; release-year/genre to address cold-start.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E50914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 i="0">
                <a:solidFill>
                  <a:srgbClr val="ECEFF4"/>
                </a:solidFill>
                <a:latin typeface="Calibri"/>
              </a:rPr>
              <a:t>A well-engineered, honest, and genuinely useful recommender.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9AA7B8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9AA7B8"/>
                </a:solidFill>
                <a:latin typeface="Calibri"/>
              </a:rPr>
              <a:t>It treats sparsity and the long tail as first-class problems, builds a justified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9AA7B8"/>
                </a:solidFill>
                <a:latin typeface="Calibri"/>
              </a:rPr>
              <a:t>model ladder culminating in a complementary hybrid, evaluates on both error and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9AA7B8"/>
                </a:solidFill>
                <a:latin typeface="Calibri"/>
              </a:rPr>
              <a:t>ranking quality, and ships explainable, user-facing recommendations.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9AA7B8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9AA7B8"/>
                </a:solidFill>
                <a:latin typeface="Calibri"/>
              </a:rPr>
              <a:t>Main upside remaining: tighten evaluation methodology and reproducibility —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9AA7B8"/>
                </a:solidFill>
                <a:latin typeface="Calibri"/>
              </a:rPr>
              <a:t>all addressable without re-architecting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9AA7B8"/>
                </a:solidFill>
                <a:latin typeface="Calibri"/>
              </a:rPr>
              <a:t>Recommendation Systems for Personalized Content Discovery  ·  Priyanshu Nigam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9AA7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